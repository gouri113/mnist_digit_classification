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3" r:id="rId17"/>
    <p:sldId id="270" r:id="rId18"/>
    <p:sldId id="271" r:id="rId19"/>
    <p:sldId id="272" r:id="rId20"/>
  </p:sldIdLst>
  <p:sldSz cx="18288000" cy="10287000"/>
  <p:notesSz cx="6858000" cy="9144000"/>
  <p:embeddedFontLst>
    <p:embeddedFont>
      <p:font typeface="League Spartan" panose="020B0604020202020204" charset="0"/>
      <p:regular r:id="rId21"/>
    </p:embeddedFont>
    <p:embeddedFont>
      <p:font typeface="Questrial" panose="020F0502020204030204" pitchFamily="2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6.jpeg"/><Relationship Id="rId4" Type="http://schemas.openxmlformats.org/officeDocument/2006/relationships/image" Target="../media/image4.svg"/><Relationship Id="rId9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574881" y="2552899"/>
            <a:ext cx="5610720" cy="5858532"/>
          </a:xfrm>
          <a:custGeom>
            <a:avLst/>
            <a:gdLst/>
            <a:ahLst/>
            <a:cxnLst/>
            <a:rect l="l" t="t" r="r" b="b"/>
            <a:pathLst>
              <a:path w="5610720" h="5858532">
                <a:moveTo>
                  <a:pt x="5610720" y="0"/>
                </a:moveTo>
                <a:lnTo>
                  <a:pt x="0" y="0"/>
                </a:lnTo>
                <a:lnTo>
                  <a:pt x="0" y="5858533"/>
                </a:lnTo>
                <a:lnTo>
                  <a:pt x="5610720" y="5858533"/>
                </a:lnTo>
                <a:lnTo>
                  <a:pt x="561072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26995" y="7044639"/>
            <a:ext cx="2233712" cy="4251009"/>
          </a:xfrm>
          <a:custGeom>
            <a:avLst/>
            <a:gdLst/>
            <a:ahLst/>
            <a:cxnLst/>
            <a:rect l="l" t="t" r="r" b="b"/>
            <a:pathLst>
              <a:path w="2233712" h="4251009">
                <a:moveTo>
                  <a:pt x="0" y="0"/>
                </a:moveTo>
                <a:lnTo>
                  <a:pt x="2233712" y="0"/>
                </a:lnTo>
                <a:lnTo>
                  <a:pt x="2233712" y="4251010"/>
                </a:lnTo>
                <a:lnTo>
                  <a:pt x="0" y="4251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00062" y="1133475"/>
            <a:ext cx="11893869" cy="5040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63"/>
              </a:lnSpc>
            </a:pPr>
            <a:r>
              <a:rPr lang="en-US" sz="9133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MNIST HANDWRITTEN DIGIT CLASSIFICATION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81012" y="6063658"/>
            <a:ext cx="11280666" cy="1261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4499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Using Convolutional Neural Network (CNN) with Real-Time Data Augmentation </a:t>
            </a:r>
          </a:p>
        </p:txBody>
      </p:sp>
      <p:sp>
        <p:nvSpPr>
          <p:cNvPr id="7" name="Freeform 7"/>
          <p:cNvSpPr/>
          <p:nvPr/>
        </p:nvSpPr>
        <p:spPr>
          <a:xfrm rot="-5400000">
            <a:off x="11056223" y="-1440442"/>
            <a:ext cx="2233712" cy="4251009"/>
          </a:xfrm>
          <a:custGeom>
            <a:avLst/>
            <a:gdLst/>
            <a:ahLst/>
            <a:cxnLst/>
            <a:rect l="l" t="t" r="r" b="b"/>
            <a:pathLst>
              <a:path w="2233712" h="4251009">
                <a:moveTo>
                  <a:pt x="0" y="0"/>
                </a:moveTo>
                <a:lnTo>
                  <a:pt x="2233712" y="0"/>
                </a:lnTo>
                <a:lnTo>
                  <a:pt x="2233712" y="4251009"/>
                </a:lnTo>
                <a:lnTo>
                  <a:pt x="0" y="4251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81012" y="7353594"/>
            <a:ext cx="6302316" cy="42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Presented by: Gouri Rewanwar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342365" y="-484511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5" y="0"/>
                </a:lnTo>
                <a:lnTo>
                  <a:pt x="3489225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3401747" y="7537565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81012" y="2864261"/>
            <a:ext cx="12661353" cy="5848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Handwritten digit recognition is one of the most foundational problems in computer vision. Its real-world impact spans across many critical industries every single day: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Postal Automation — Reading handwritten ZIP codes on envelopes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Banking — Processing handwritten amounts on cheques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Healthcare &amp; Government — Digitizing paper forms and records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Document Archiving — Converting historical handwritten documents to searchable text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Traditional approaches relied on manually engineered features (HOG, SIFT) which required domain expertise and failed to generalize. This project uses a Convolutional Neural Network (CNN) that learns directly from raw pixel data — no manual feature design required.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Result: 99.52% Test Accuracy on 10,000 unseen handwritten digit images — matching state-of-the-art results on this benchmark.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81012" y="1622674"/>
            <a:ext cx="12661353" cy="110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Overview</a:t>
            </a: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03924" y="3512224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5" y="0"/>
                </a:lnTo>
                <a:lnTo>
                  <a:pt x="3489225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790936" y="3119863"/>
            <a:ext cx="3657600" cy="784721"/>
          </a:xfrm>
          <a:custGeom>
            <a:avLst/>
            <a:gdLst/>
            <a:ahLst/>
            <a:cxnLst/>
            <a:rect l="l" t="t" r="r" b="b"/>
            <a:pathLst>
              <a:path w="3657600" h="784721">
                <a:moveTo>
                  <a:pt x="0" y="0"/>
                </a:moveTo>
                <a:lnTo>
                  <a:pt x="3657600" y="0"/>
                </a:lnTo>
                <a:lnTo>
                  <a:pt x="3657600" y="784721"/>
                </a:lnTo>
                <a:lnTo>
                  <a:pt x="0" y="7847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12253" y="5648690"/>
            <a:ext cx="1185283" cy="964030"/>
          </a:xfrm>
          <a:custGeom>
            <a:avLst/>
            <a:gdLst/>
            <a:ahLst/>
            <a:cxnLst/>
            <a:rect l="l" t="t" r="r" b="b"/>
            <a:pathLst>
              <a:path w="1185283" h="964030">
                <a:moveTo>
                  <a:pt x="0" y="0"/>
                </a:moveTo>
                <a:lnTo>
                  <a:pt x="1185283" y="0"/>
                </a:lnTo>
                <a:lnTo>
                  <a:pt x="1185283" y="964030"/>
                </a:lnTo>
                <a:lnTo>
                  <a:pt x="0" y="964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3005118"/>
            <a:ext cx="12294099" cy="334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Problem Statement: Given a 28×28 grayscale image of a handwritten digit, build a deep learning model that correctly identifies the digit as one of 10 classes — 0 through 9. The model must: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Generalize to unseen handwriting styles in the test set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Classify digit images uploaded by users from outside the dataset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Handle real-world variation in image format, brightness, and stroke style</a:t>
            </a:r>
          </a:p>
          <a:p>
            <a:pPr algn="l">
              <a:lnSpc>
                <a:spcPts val="3288"/>
              </a:lnSpc>
            </a:pPr>
            <a:endParaRPr lang="en-US" sz="3045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44413"/>
            <a:ext cx="11762236" cy="2181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 &amp; 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969681"/>
            <a:ext cx="16266341" cy="418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Project Objectives: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Load and explore MNIST — analyze class distribution and pixel statistics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Normalize pixel values from [0–255] to [0.0–1.0] and reshape for CNN compatibility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Design a two-block CNN with Batch Normalization, MaxPooling, and Dropout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Apply real-time Data Augmentation (rotation, zoom, horizontal &amp; vertical shifts)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Train using EarlyStopping and ReduceLROnPlateau callbacks for optimal convergence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Evaluate using accuracy, per-class classification report, and a 10×10 confusion matrix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Analyze misclassified examples and per-digit error rates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Build a dual-mode predictive system: test set images + user-uploaded custom images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Save the trained model as mnist_cnn_model.h5 for future deployment</a:t>
            </a:r>
          </a:p>
        </p:txBody>
      </p:sp>
      <p:sp>
        <p:nvSpPr>
          <p:cNvPr id="9" name="Freeform 9"/>
          <p:cNvSpPr/>
          <p:nvPr/>
        </p:nvSpPr>
        <p:spPr>
          <a:xfrm>
            <a:off x="-312253" y="2637848"/>
            <a:ext cx="1185283" cy="964030"/>
          </a:xfrm>
          <a:custGeom>
            <a:avLst/>
            <a:gdLst/>
            <a:ahLst/>
            <a:cxnLst/>
            <a:rect l="l" t="t" r="r" b="b"/>
            <a:pathLst>
              <a:path w="1185283" h="964030">
                <a:moveTo>
                  <a:pt x="0" y="0"/>
                </a:moveTo>
                <a:lnTo>
                  <a:pt x="1185283" y="0"/>
                </a:lnTo>
                <a:lnTo>
                  <a:pt x="1185283" y="964030"/>
                </a:lnTo>
                <a:lnTo>
                  <a:pt x="0" y="964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15463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5" y="0"/>
                </a:lnTo>
                <a:lnTo>
                  <a:pt x="3489225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07687" y="9226285"/>
            <a:ext cx="4236313" cy="724024"/>
          </a:xfrm>
          <a:custGeom>
            <a:avLst/>
            <a:gdLst/>
            <a:ahLst/>
            <a:cxnLst/>
            <a:rect l="l" t="t" r="r" b="b"/>
            <a:pathLst>
              <a:path w="4236313" h="724024">
                <a:moveTo>
                  <a:pt x="0" y="0"/>
                </a:moveTo>
                <a:lnTo>
                  <a:pt x="4236313" y="0"/>
                </a:lnTo>
                <a:lnTo>
                  <a:pt x="4236313" y="724024"/>
                </a:lnTo>
                <a:lnTo>
                  <a:pt x="0" y="724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54502" y="4089428"/>
            <a:ext cx="8484233" cy="3789182"/>
          </a:xfrm>
          <a:custGeom>
            <a:avLst/>
            <a:gdLst/>
            <a:ahLst/>
            <a:cxnLst/>
            <a:rect l="l" t="t" r="r" b="b"/>
            <a:pathLst>
              <a:path w="8484233" h="3789182">
                <a:moveTo>
                  <a:pt x="0" y="0"/>
                </a:moveTo>
                <a:lnTo>
                  <a:pt x="8484233" y="0"/>
                </a:lnTo>
                <a:lnTo>
                  <a:pt x="8484233" y="3789182"/>
                </a:lnTo>
                <a:lnTo>
                  <a:pt x="0" y="37891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13431" y="4089428"/>
            <a:ext cx="7045869" cy="5860882"/>
          </a:xfrm>
          <a:custGeom>
            <a:avLst/>
            <a:gdLst/>
            <a:ahLst/>
            <a:cxnLst/>
            <a:rect l="l" t="t" r="r" b="b"/>
            <a:pathLst>
              <a:path w="7045869" h="5860882">
                <a:moveTo>
                  <a:pt x="0" y="0"/>
                </a:moveTo>
                <a:lnTo>
                  <a:pt x="7045869" y="0"/>
                </a:lnTo>
                <a:lnTo>
                  <a:pt x="7045869" y="5860881"/>
                </a:lnTo>
                <a:lnTo>
                  <a:pt x="0" y="58608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89470" y="1816145"/>
            <a:ext cx="17898530" cy="836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Source: keras.datasets.mnist — Created by Yann LeCun, Corinna Cortes &amp; Christopher Burges, 1998 Access: Directly via Keras — no external file download, perfect reproducibility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9542" y="524622"/>
            <a:ext cx="10277493" cy="110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MNIST Dataset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4502" y="3171861"/>
            <a:ext cx="5884782" cy="42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Dataset Statistics: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13431" y="3171861"/>
            <a:ext cx="5884782" cy="42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Class Distribution (Training Set):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44" y="3640938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5" y="0"/>
                </a:lnTo>
                <a:lnTo>
                  <a:pt x="3489225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2270177" y="4903734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49442" y="1774653"/>
            <a:ext cx="5246370" cy="4381229"/>
            <a:chOff x="0" y="0"/>
            <a:chExt cx="812800" cy="6787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678767"/>
            </a:xfrm>
            <a:custGeom>
              <a:avLst/>
              <a:gdLst/>
              <a:ahLst/>
              <a:cxnLst/>
              <a:rect l="l" t="t" r="r" b="b"/>
              <a:pathLst>
                <a:path w="812800" h="678767">
                  <a:moveTo>
                    <a:pt x="0" y="0"/>
                  </a:moveTo>
                  <a:lnTo>
                    <a:pt x="812800" y="0"/>
                  </a:lnTo>
                  <a:lnTo>
                    <a:pt x="812800" y="678767"/>
                  </a:lnTo>
                  <a:lnTo>
                    <a:pt x="0" y="678767"/>
                  </a:lnTo>
                  <a:close/>
                </a:path>
              </a:pathLst>
            </a:custGeom>
            <a:blipFill>
              <a:blip r:embed="rId5"/>
              <a:stretch>
                <a:fillRect l="-24562" r="-2456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214588" y="1803228"/>
            <a:ext cx="10467211" cy="751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1. Sample Image Visualization A 4×10 grid was displayed showing 4 examples of each digit (0–9) — revealing the natural variation in handwriting styles: different stroke thickness, proportions, tilt angles, and pen pressure across different writers.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2. Class Distribution Verification Bar charts for both training and test sets confirmed near-uniform distribution across all 10 classes — no class imbalance requiring special handling.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3. Raw Pixel Value Inspection Individual images inspected as 28×28 integer matrices (values 0–255). Key observations: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Background pixels cluster near 0 (black)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Ink stroke pixels cluster near 200–255 (white/light grey)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Each image is a sparse matrix — most pixels are background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4. Group-Level Digit Inspection Visual comparison across digit classes confirms the challenge: digits like 4/9, 3/5, 7/1, and 8/3 share structural features that form the model's hardest classification cases.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9442" y="524622"/>
            <a:ext cx="10277493" cy="110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EDA Insights</a:t>
            </a:r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3600" y="4733186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4" y="0"/>
                </a:lnTo>
                <a:lnTo>
                  <a:pt x="3489224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790936" y="1467756"/>
            <a:ext cx="3657600" cy="784721"/>
          </a:xfrm>
          <a:custGeom>
            <a:avLst/>
            <a:gdLst/>
            <a:ahLst/>
            <a:cxnLst/>
            <a:rect l="l" t="t" r="r" b="b"/>
            <a:pathLst>
              <a:path w="3657600" h="784721">
                <a:moveTo>
                  <a:pt x="0" y="0"/>
                </a:moveTo>
                <a:lnTo>
                  <a:pt x="3657600" y="0"/>
                </a:lnTo>
                <a:lnTo>
                  <a:pt x="3657600" y="784721"/>
                </a:lnTo>
                <a:lnTo>
                  <a:pt x="0" y="7847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24815" y="424487"/>
            <a:ext cx="10277493" cy="2181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PREPROCESSING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98669" y="2921216"/>
            <a:ext cx="14007278" cy="6980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Step 1 — Pixel Normalization All pixel values divided by 255.0 → scaled from integer [0, 255] to float [0.0, 1.0]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Why this matters: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Ensures all inputs fall within a consistent scale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Prevents any single pixel from dominating gradient updates during backpropagation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Significantly accelerates convergence by matching scale to weight initialization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Before: min=0, max=255 → After: min=0.0, max=1.0 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Step 2 — Tensor Reshaping for CNN Input Raw MNIST images are 2D arrays of shape (28, 28). CNN layers require 4D input: (samples, height, width, channels)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Since MNIST is grayscale → 1 channel added: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(28, 28) → (28, 28, 1) per image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Full training tensor: (60,000, 28, 28, 1)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Full test tensor: (10,000, 28, 28, 1)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This channel dimension is mandatory — CNN filter operations are defined over 3D volumes (height × width × channels), not 2D planes.</a:t>
            </a: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29647" y="3257304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5" y="0"/>
                </a:lnTo>
                <a:lnTo>
                  <a:pt x="3489225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693335" y="6215488"/>
            <a:ext cx="4236313" cy="724024"/>
          </a:xfrm>
          <a:custGeom>
            <a:avLst/>
            <a:gdLst/>
            <a:ahLst/>
            <a:cxnLst/>
            <a:rect l="l" t="t" r="r" b="b"/>
            <a:pathLst>
              <a:path w="4236313" h="724024">
                <a:moveTo>
                  <a:pt x="0" y="0"/>
                </a:moveTo>
                <a:lnTo>
                  <a:pt x="4236312" y="0"/>
                </a:lnTo>
                <a:lnTo>
                  <a:pt x="4236312" y="724024"/>
                </a:lnTo>
                <a:lnTo>
                  <a:pt x="0" y="724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531902" y="0"/>
            <a:ext cx="5886970" cy="4258382"/>
            <a:chOff x="0" y="0"/>
            <a:chExt cx="812800" cy="5879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587945"/>
            </a:xfrm>
            <a:custGeom>
              <a:avLst/>
              <a:gdLst/>
              <a:ahLst/>
              <a:cxnLst/>
              <a:rect l="l" t="t" r="r" b="b"/>
              <a:pathLst>
                <a:path w="812800" h="587945">
                  <a:moveTo>
                    <a:pt x="0" y="0"/>
                  </a:moveTo>
                  <a:lnTo>
                    <a:pt x="812800" y="0"/>
                  </a:lnTo>
                  <a:lnTo>
                    <a:pt x="812800" y="587945"/>
                  </a:lnTo>
                  <a:lnTo>
                    <a:pt x="0" y="587945"/>
                  </a:lnTo>
                  <a:close/>
                </a:path>
              </a:pathLst>
            </a:custGeom>
            <a:blipFill>
              <a:blip r:embed="rId5"/>
              <a:stretch>
                <a:fillRect l="-4202" r="-4202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403383" y="4126153"/>
            <a:ext cx="11301259" cy="3136099"/>
          </a:xfrm>
          <a:custGeom>
            <a:avLst/>
            <a:gdLst/>
            <a:ahLst/>
            <a:cxnLst/>
            <a:rect l="l" t="t" r="r" b="b"/>
            <a:pathLst>
              <a:path w="11301259" h="3136099">
                <a:moveTo>
                  <a:pt x="0" y="0"/>
                </a:moveTo>
                <a:lnTo>
                  <a:pt x="11301259" y="0"/>
                </a:lnTo>
                <a:lnTo>
                  <a:pt x="11301259" y="3136099"/>
                </a:lnTo>
                <a:lnTo>
                  <a:pt x="0" y="31360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03383" y="1454998"/>
            <a:ext cx="11804328" cy="2475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What is Data Augmentation? 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 regularization technique that artificially expands the effective training dataset by applying random transformations to training images during each epoch — exposing the model to more variation without collecting new data.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Augmentation Parameters Applied (ImageDataGenerator):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9542" y="323016"/>
            <a:ext cx="13008976" cy="110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AUGMENTATION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3383" y="7290827"/>
            <a:ext cx="14526265" cy="2884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Critical Rule: Augmentation is applied ONLY to the training data in real-time during model.fit() via datagen.flow(). The test set is evaluated on clean, original, unaugmented images — ensuring a fair and unbiased performance measurement.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Personal Insight: Without data augmentation, the model started overfitting quickly. After applying augmentation and dropout, validation accuracy became much more stable — demonstrating the direct impact of generalization techniques on real performance.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84674" y="-247410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5" y="0"/>
                </a:lnTo>
                <a:lnTo>
                  <a:pt x="3489225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2322370" y="7537565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56192" y="1360338"/>
            <a:ext cx="7278988" cy="4276406"/>
          </a:xfrm>
          <a:custGeom>
            <a:avLst/>
            <a:gdLst/>
            <a:ahLst/>
            <a:cxnLst/>
            <a:rect l="l" t="t" r="r" b="b"/>
            <a:pathLst>
              <a:path w="7278988" h="4276406">
                <a:moveTo>
                  <a:pt x="0" y="0"/>
                </a:moveTo>
                <a:lnTo>
                  <a:pt x="7278988" y="0"/>
                </a:lnTo>
                <a:lnTo>
                  <a:pt x="7278988" y="4276406"/>
                </a:lnTo>
                <a:lnTo>
                  <a:pt x="0" y="4276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6192" y="5636744"/>
            <a:ext cx="7278988" cy="3967049"/>
          </a:xfrm>
          <a:custGeom>
            <a:avLst/>
            <a:gdLst/>
            <a:ahLst/>
            <a:cxnLst/>
            <a:rect l="l" t="t" r="r" b="b"/>
            <a:pathLst>
              <a:path w="7278988" h="3967049">
                <a:moveTo>
                  <a:pt x="0" y="0"/>
                </a:moveTo>
                <a:lnTo>
                  <a:pt x="7278988" y="0"/>
                </a:lnTo>
                <a:lnTo>
                  <a:pt x="7278988" y="3967048"/>
                </a:lnTo>
                <a:lnTo>
                  <a:pt x="0" y="39670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06599" y="1388913"/>
            <a:ext cx="6235766" cy="168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Architecture: Two-Block Sequential CNN Input (28×28×1) → Block 1 (32 filters) → Block 2 (64 filters) → Dense(128) → Output(10)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4870" y="256932"/>
            <a:ext cx="11971857" cy="110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CNN ARCHITECTURE</a:t>
            </a:r>
          </a:p>
        </p:txBody>
      </p:sp>
      <p:sp>
        <p:nvSpPr>
          <p:cNvPr id="9" name="Freeform 9"/>
          <p:cNvSpPr/>
          <p:nvPr/>
        </p:nvSpPr>
        <p:spPr>
          <a:xfrm>
            <a:off x="14211130" y="8467595"/>
            <a:ext cx="4236313" cy="724024"/>
          </a:xfrm>
          <a:custGeom>
            <a:avLst/>
            <a:gdLst/>
            <a:ahLst/>
            <a:cxnLst/>
            <a:rect l="l" t="t" r="r" b="b"/>
            <a:pathLst>
              <a:path w="4236313" h="724024">
                <a:moveTo>
                  <a:pt x="0" y="0"/>
                </a:moveTo>
                <a:lnTo>
                  <a:pt x="4236313" y="0"/>
                </a:lnTo>
                <a:lnTo>
                  <a:pt x="4236313" y="724024"/>
                </a:lnTo>
                <a:lnTo>
                  <a:pt x="0" y="724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106599" y="3340144"/>
            <a:ext cx="3657600" cy="784721"/>
          </a:xfrm>
          <a:custGeom>
            <a:avLst/>
            <a:gdLst/>
            <a:ahLst/>
            <a:cxnLst/>
            <a:rect l="l" t="t" r="r" b="b"/>
            <a:pathLst>
              <a:path w="3657600" h="784721">
                <a:moveTo>
                  <a:pt x="0" y="0"/>
                </a:moveTo>
                <a:lnTo>
                  <a:pt x="3657600" y="0"/>
                </a:lnTo>
                <a:lnTo>
                  <a:pt x="3657600" y="784721"/>
                </a:lnTo>
                <a:lnTo>
                  <a:pt x="0" y="7847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1495504" y="4058538"/>
            <a:ext cx="5246370" cy="2169924"/>
            <a:chOff x="0" y="0"/>
            <a:chExt cx="812800" cy="3361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336178"/>
            </a:xfrm>
            <a:custGeom>
              <a:avLst/>
              <a:gdLst/>
              <a:ahLst/>
              <a:cxnLst/>
              <a:rect l="l" t="t" r="r" b="b"/>
              <a:pathLst>
                <a:path w="812800" h="336178">
                  <a:moveTo>
                    <a:pt x="0" y="0"/>
                  </a:moveTo>
                  <a:lnTo>
                    <a:pt x="812800" y="0"/>
                  </a:lnTo>
                  <a:lnTo>
                    <a:pt x="812800" y="336178"/>
                  </a:lnTo>
                  <a:lnTo>
                    <a:pt x="0" y="336178"/>
                  </a:lnTo>
                  <a:close/>
                </a:path>
              </a:pathLst>
            </a:custGeom>
            <a:blipFill>
              <a:blip r:embed="rId9"/>
              <a:stretch>
                <a:fillRect t="-30665" b="-30665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0883955" y="6659683"/>
            <a:ext cx="5246370" cy="2169924"/>
            <a:chOff x="0" y="0"/>
            <a:chExt cx="812800" cy="33617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336178"/>
            </a:xfrm>
            <a:custGeom>
              <a:avLst/>
              <a:gdLst/>
              <a:ahLst/>
              <a:cxnLst/>
              <a:rect l="l" t="t" r="r" b="b"/>
              <a:pathLst>
                <a:path w="812800" h="336178">
                  <a:moveTo>
                    <a:pt x="0" y="0"/>
                  </a:moveTo>
                  <a:lnTo>
                    <a:pt x="812800" y="0"/>
                  </a:lnTo>
                  <a:lnTo>
                    <a:pt x="812800" y="336178"/>
                  </a:lnTo>
                  <a:lnTo>
                    <a:pt x="0" y="336178"/>
                  </a:lnTo>
                  <a:close/>
                </a:path>
              </a:pathLst>
            </a:custGeom>
            <a:blipFill>
              <a:blip r:embed="rId10"/>
              <a:stretch>
                <a:fillRect t="-17917" b="-17917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3600" y="4733186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4" y="0"/>
                </a:lnTo>
                <a:lnTo>
                  <a:pt x="3489224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8614" y="1600524"/>
            <a:ext cx="17570772" cy="779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Convolutional Layers — Automatic Feature Learning Each filter slides across the image computing dot products with local pixel patches — producing feature maps that highlight where specific patterns appear. Block 1 (32 filters) learns primitive visual features: edges, stroke endpoints, simple curves. Block 2 (64 filters) combines these into digit-specific patterns: closed loops (0, 8), vertical strokes (1), angular patterns (4, 7).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MaxPooling — Spatial Compression with Invariance Selects the maximum value within each 2×2 region. Two benefits: reduces computational cost by shrinking feature maps (28→14→7), and introduces spatial invariance — small translations of a digit produce the same pooled output, making the model less sensitive to exact digit position.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Batch Normalization — Stable Training Normalizes layer activations across each mini-batch (zero mean, unit variance) then applies learnable scale and shift. Stabilizes training, allows higher learning rates, and acts as a mild regularizer — reducing reliance on aggressive dropout.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Dropout — Forced Robustness Randomly disables a fraction of neurons during each training step — preventing co-adaptation (neurons depending on specific other neurons). Rates of 0.25 after conv blocks (light, preserves spatial learning) and 0.50 after Dense layer (aggressive — highest overfitting risk point).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Softmax Output — Probability Distribution 10 output neurons → Softmax converts raw scores to probabilities summing to 1.0. Predicted digit = argmax(output vector). Also gives a confidence score — 99.8% for digit '3' is far more reliable than 52% for digit '5'.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8449" y="292318"/>
            <a:ext cx="15321926" cy="110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the CNN Actually Works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3600" y="4733186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4" y="0"/>
                </a:lnTo>
                <a:lnTo>
                  <a:pt x="3489224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2365" y="270290"/>
            <a:ext cx="17927810" cy="105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9"/>
              </a:lnSpc>
            </a:pPr>
            <a:r>
              <a:rPr lang="en-US" sz="6600" dirty="0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TRAINING STRATEGY &amp; CALLBACKS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0142" y="1599851"/>
            <a:ext cx="17487716" cy="8209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Training Configuration: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Maximum Epochs: 20 | Batch Size: 64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Training data fed via datagen.flow() for real-time augmentation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Validation: full unaugmented test set evaluated after each epoch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Callback 1 — EarlyStopping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Monitors: val_accuracy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Patience: 5 epochs (stops if no improvement for 5 consecutive epochs)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restore_best_weights = True (loads best checkpoint, not last epoch)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Effect: Prevents wasted training time and overfitting past the accuracy peak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Outcome: Model stopped well before epoch 20, indicating efficient convergence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Callback 2 — ReduceLROnPlateau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Monitors: val_accuracy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Patience: 3 epochs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Factor: 0.5 (halves the learning rate when triggered)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Minimum LR: 1e-6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Effect: Adaptive learning rate allows finer gradient steps near convergence — often yields the final accuracy push from 99.3% to 99.5%+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Training Outcome: Training and validation accuracy curves rose sharply in early epochs and converged tightly with minimal divergence — confirming data augmentation and dropout effectively prevented overfitting. Validation loss decreased smoothly throughout.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03924" y="3512224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5" y="0"/>
                </a:lnTo>
                <a:lnTo>
                  <a:pt x="3489225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790936" y="3119863"/>
            <a:ext cx="3657600" cy="784721"/>
          </a:xfrm>
          <a:custGeom>
            <a:avLst/>
            <a:gdLst/>
            <a:ahLst/>
            <a:cxnLst/>
            <a:rect l="l" t="t" r="r" b="b"/>
            <a:pathLst>
              <a:path w="3657600" h="784721">
                <a:moveTo>
                  <a:pt x="0" y="0"/>
                </a:moveTo>
                <a:lnTo>
                  <a:pt x="3657600" y="0"/>
                </a:lnTo>
                <a:lnTo>
                  <a:pt x="3657600" y="784721"/>
                </a:lnTo>
                <a:lnTo>
                  <a:pt x="0" y="7847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12253" y="2637848"/>
            <a:ext cx="1185283" cy="964030"/>
          </a:xfrm>
          <a:custGeom>
            <a:avLst/>
            <a:gdLst/>
            <a:ahLst/>
            <a:cxnLst/>
            <a:rect l="l" t="t" r="r" b="b"/>
            <a:pathLst>
              <a:path w="1185283" h="964030">
                <a:moveTo>
                  <a:pt x="0" y="0"/>
                </a:moveTo>
                <a:lnTo>
                  <a:pt x="1185283" y="0"/>
                </a:lnTo>
                <a:lnTo>
                  <a:pt x="1185283" y="964030"/>
                </a:lnTo>
                <a:lnTo>
                  <a:pt x="0" y="964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128347" y="2826202"/>
            <a:ext cx="5900077" cy="1710360"/>
          </a:xfrm>
          <a:custGeom>
            <a:avLst/>
            <a:gdLst/>
            <a:ahLst/>
            <a:cxnLst/>
            <a:rect l="l" t="t" r="r" b="b"/>
            <a:pathLst>
              <a:path w="5900077" h="1710360">
                <a:moveTo>
                  <a:pt x="0" y="0"/>
                </a:moveTo>
                <a:lnTo>
                  <a:pt x="5900078" y="0"/>
                </a:lnTo>
                <a:lnTo>
                  <a:pt x="5900078" y="1710359"/>
                </a:lnTo>
                <a:lnTo>
                  <a:pt x="0" y="17103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3005118"/>
            <a:ext cx="4099647" cy="43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Final Test Set Results: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44413"/>
            <a:ext cx="11762236" cy="2181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 &amp; EVALUATION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0389" y="4720150"/>
            <a:ext cx="17698167" cy="5432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Only 48 out of 10,000 test images were misclassified — matching state-of-the-art CNN results on MNIST.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Per-Class Performance: All 10 digit classes achieve precision, recall, and F1-scores above 0.98 — strong and consistent performance across every digit without any class-specific weakness.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Confusion Matrix Key Findings (10×10 Matrix):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 vast majority of predictions fall on the main diagonal (correct classifications)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Most frequent confusions occur between visually similar digit pairs:</a:t>
            </a:r>
          </a:p>
          <a:p>
            <a:pPr marL="1314848" lvl="2" indent="-438283" algn="l">
              <a:lnSpc>
                <a:spcPts val="3288"/>
              </a:lnSpc>
              <a:buFont typeface="Arial"/>
              <a:buChar char="⚬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4 vs. 9 — share a similar upper loop structure</a:t>
            </a:r>
          </a:p>
          <a:p>
            <a:pPr marL="1314848" lvl="2" indent="-438283" algn="l">
              <a:lnSpc>
                <a:spcPts val="3288"/>
              </a:lnSpc>
              <a:buFont typeface="Arial"/>
              <a:buChar char="⚬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3 vs. 5 — share similar curved strokes</a:t>
            </a:r>
          </a:p>
          <a:p>
            <a:pPr marL="1314848" lvl="2" indent="-438283" algn="l">
              <a:lnSpc>
                <a:spcPts val="3288"/>
              </a:lnSpc>
              <a:buFont typeface="Arial"/>
              <a:buChar char="⚬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7 vs. 1 — share a strong vertical stroke</a:t>
            </a:r>
          </a:p>
          <a:p>
            <a:pPr marL="1314848" lvl="2" indent="-438283" algn="l">
              <a:lnSpc>
                <a:spcPts val="3288"/>
              </a:lnSpc>
              <a:buFont typeface="Arial"/>
              <a:buChar char="⚬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8 vs. 3 — share curved vertical structure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Digit 1 achieves near-perfect classification due to its uniquely simple vertical stroke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Digits 5, 8, and 9 show marginally higher error rates due to greater visual ambiguity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29647" y="3257304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5" y="0"/>
                </a:lnTo>
                <a:lnTo>
                  <a:pt x="3489225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1986162" y="227766"/>
            <a:ext cx="5886970" cy="4258382"/>
            <a:chOff x="0" y="0"/>
            <a:chExt cx="812800" cy="5879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587945"/>
            </a:xfrm>
            <a:custGeom>
              <a:avLst/>
              <a:gdLst/>
              <a:ahLst/>
              <a:cxnLst/>
              <a:rect l="l" t="t" r="r" b="b"/>
              <a:pathLst>
                <a:path w="812800" h="587945">
                  <a:moveTo>
                    <a:pt x="0" y="0"/>
                  </a:moveTo>
                  <a:lnTo>
                    <a:pt x="812800" y="0"/>
                  </a:lnTo>
                  <a:lnTo>
                    <a:pt x="812800" y="587945"/>
                  </a:lnTo>
                  <a:lnTo>
                    <a:pt x="0" y="587945"/>
                  </a:lnTo>
                  <a:close/>
                </a:path>
              </a:pathLst>
            </a:custGeom>
            <a:blipFill>
              <a:blip r:embed="rId4">
                <a:alphaModFix amt="24000"/>
              </a:blip>
              <a:stretch>
                <a:fillRect l="-4202" r="-4202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259542" y="323016"/>
            <a:ext cx="13008976" cy="2181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MISCLASSIFICATION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3383" y="2533380"/>
            <a:ext cx="14526265" cy="6980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What the Errors Tell Us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20 misclassified examples were visualized from the 10,000 test images. Each was displayed with its true label and the model's wrong prediction.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Key Insight from the Errors: The vast majority of errors occur on genuinely ambiguous images — digits that would also challenge human readers. Characteristics of these hard cases: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Unusual stroke thickness (very thin or very bold ink)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Unusual proportions (a '7' written very short and wide)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Strokes that anatomically resemble another digit (a '9' with no upper loop, looking like a '4')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Heavy ink blobs or incomplete strokes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What This Confirms: The model is NOT making systematic architectural mistakes. It has learned meaningful visual representations — it fails only where the visual signal itself is genuinely ambiguous. This is the hallmark of a well-trained model.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Per-Digit Error Rate Summary: Digits with highest error rates: 5, 8, 9 (structurally complex, more ambiguous) Digits with lowest error rates: 1, 0, 7 (structurally simple and visually distinct)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84674" y="-247410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5" y="0"/>
                </a:lnTo>
                <a:lnTo>
                  <a:pt x="3489225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5893935" y="7737584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0" y="0"/>
                </a:lnTo>
                <a:lnTo>
                  <a:pt x="6733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9326" y="1256273"/>
            <a:ext cx="12859138" cy="876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Mode 1 — Test Set Prediction For any MNIST test image, the trained model produces a Softmax probability vector of length 10. The output includes: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Predicted digit (argmax of probability vector)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Confidence score (probability of predicted class × 100)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 bar chart showing all 10 class probabilities — visualizing how confidently the model distinguishes between alternative digits (e.g., 99.8% for '3' vs 0.1% for '8')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Mode 2 — Custom Image Prediction The predict_digit_from_image() function classifies handwritten digit images from OUTSIDE the MNIST dataset. The full preprocessing pipeline:</a:t>
            </a:r>
          </a:p>
          <a:p>
            <a:pPr marL="657424" lvl="1" indent="-328712" algn="l">
              <a:lnSpc>
                <a:spcPts val="3288"/>
              </a:lnSpc>
              <a:buAutoNum type="arabicPeriod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Image Loading — cv2.imread() supporting PNG, JPG, BMP formats</a:t>
            </a:r>
          </a:p>
          <a:p>
            <a:pPr marL="657424" lvl="1" indent="-328712" algn="l">
              <a:lnSpc>
                <a:spcPts val="3288"/>
              </a:lnSpc>
              <a:buAutoNum type="arabicPeriod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Grayscale Conversion — BGR to grayscale via cv2.cvtColor()</a:t>
            </a:r>
          </a:p>
          <a:p>
            <a:pPr marL="657424" lvl="1" indent="-328712" algn="l">
              <a:lnSpc>
                <a:spcPts val="3288"/>
              </a:lnSpc>
              <a:buAutoNum type="arabicPeriod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Resize to 28×28 — cv2.resize() for dimensional compatibility</a:t>
            </a:r>
          </a:p>
          <a:p>
            <a:pPr marL="657424" lvl="1" indent="-328712" algn="l">
              <a:lnSpc>
                <a:spcPts val="3288"/>
              </a:lnSpc>
              <a:buAutoNum type="arabicPeriod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Normalization — Pixel values scaled [0, 255] → [0.0, 1.0]</a:t>
            </a:r>
          </a:p>
          <a:p>
            <a:pPr marL="657424" lvl="1" indent="-328712" algn="l">
              <a:lnSpc>
                <a:spcPts val="3288"/>
              </a:lnSpc>
              <a:buAutoNum type="arabicPeriod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Tensor Reshape — (28, 28) → (1, 28, 28, 1) for CNN batch input</a:t>
            </a:r>
          </a:p>
          <a:p>
            <a:pPr marL="657424" lvl="1" indent="-328712" algn="l">
              <a:lnSpc>
                <a:spcPts val="3288"/>
              </a:lnSpc>
              <a:buAutoNum type="arabicPeriod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Prediction — model.predict() returns Softmax vector → digit + confidence score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Why This Matters: This dual-mode system transforms the trained benchmark model into a practically deployable digit recognition tool — capable of working on any handwritten input image, not just MNIST test data.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4870" y="256932"/>
            <a:ext cx="11971857" cy="110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PREDICTIVE SYSTEM</a:t>
            </a:r>
          </a:p>
        </p:txBody>
      </p:sp>
      <p:sp>
        <p:nvSpPr>
          <p:cNvPr id="7" name="Freeform 7"/>
          <p:cNvSpPr/>
          <p:nvPr/>
        </p:nvSpPr>
        <p:spPr>
          <a:xfrm>
            <a:off x="14211130" y="8467595"/>
            <a:ext cx="4236313" cy="724024"/>
          </a:xfrm>
          <a:custGeom>
            <a:avLst/>
            <a:gdLst/>
            <a:ahLst/>
            <a:cxnLst/>
            <a:rect l="l" t="t" r="r" b="b"/>
            <a:pathLst>
              <a:path w="4236313" h="724024">
                <a:moveTo>
                  <a:pt x="0" y="0"/>
                </a:moveTo>
                <a:lnTo>
                  <a:pt x="4236313" y="0"/>
                </a:lnTo>
                <a:lnTo>
                  <a:pt x="4236313" y="724024"/>
                </a:lnTo>
                <a:lnTo>
                  <a:pt x="0" y="724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3706102" y="4058538"/>
            <a:ext cx="5246370" cy="2169924"/>
            <a:chOff x="0" y="0"/>
            <a:chExt cx="812800" cy="3361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336178"/>
            </a:xfrm>
            <a:custGeom>
              <a:avLst/>
              <a:gdLst/>
              <a:ahLst/>
              <a:cxnLst/>
              <a:rect l="l" t="t" r="r" b="b"/>
              <a:pathLst>
                <a:path w="812800" h="336178">
                  <a:moveTo>
                    <a:pt x="0" y="0"/>
                  </a:moveTo>
                  <a:lnTo>
                    <a:pt x="812800" y="0"/>
                  </a:lnTo>
                  <a:lnTo>
                    <a:pt x="812800" y="336178"/>
                  </a:lnTo>
                  <a:lnTo>
                    <a:pt x="0" y="336178"/>
                  </a:lnTo>
                  <a:close/>
                </a:path>
              </a:pathLst>
            </a:custGeom>
            <a:blipFill>
              <a:blip r:embed="rId6"/>
              <a:stretch>
                <a:fillRect t="-30665" b="-3066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827529" y="6659683"/>
            <a:ext cx="5246370" cy="2169924"/>
            <a:chOff x="0" y="0"/>
            <a:chExt cx="812800" cy="3361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336178"/>
            </a:xfrm>
            <a:custGeom>
              <a:avLst/>
              <a:gdLst/>
              <a:ahLst/>
              <a:cxnLst/>
              <a:rect l="l" t="t" r="r" b="b"/>
              <a:pathLst>
                <a:path w="812800" h="336178">
                  <a:moveTo>
                    <a:pt x="0" y="0"/>
                  </a:moveTo>
                  <a:lnTo>
                    <a:pt x="812800" y="0"/>
                  </a:lnTo>
                  <a:lnTo>
                    <a:pt x="812800" y="336178"/>
                  </a:lnTo>
                  <a:lnTo>
                    <a:pt x="0" y="336178"/>
                  </a:lnTo>
                  <a:close/>
                </a:path>
              </a:pathLst>
            </a:custGeom>
            <a:blipFill>
              <a:blip r:embed="rId7"/>
              <a:stretch>
                <a:fillRect t="-17917" b="-17917"/>
              </a:stretch>
            </a:blipFill>
          </p:spPr>
        </p:sp>
      </p:grp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15463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5" y="0"/>
                </a:lnTo>
                <a:lnTo>
                  <a:pt x="3489225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07687" y="9226285"/>
            <a:ext cx="4236313" cy="724024"/>
          </a:xfrm>
          <a:custGeom>
            <a:avLst/>
            <a:gdLst/>
            <a:ahLst/>
            <a:cxnLst/>
            <a:rect l="l" t="t" r="r" b="b"/>
            <a:pathLst>
              <a:path w="4236313" h="724024">
                <a:moveTo>
                  <a:pt x="0" y="0"/>
                </a:moveTo>
                <a:lnTo>
                  <a:pt x="4236313" y="0"/>
                </a:lnTo>
                <a:lnTo>
                  <a:pt x="4236313" y="724024"/>
                </a:lnTo>
                <a:lnTo>
                  <a:pt x="0" y="724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7576" y="315852"/>
            <a:ext cx="17612848" cy="1121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 dirty="0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VISUALISATION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09D1ED-D706-7F29-ED6C-887B319EC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699" y="1413576"/>
            <a:ext cx="11756101" cy="41176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8524A6-EF87-872A-384C-243181CC80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615" y="5709745"/>
            <a:ext cx="11756101" cy="412714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B4237-A3FA-F048-7D55-D11DE190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3BDBEA-E07A-17FE-6296-2813202DB75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E721C21-0E7B-0C54-B179-C328DA8D8780}"/>
              </a:ext>
            </a:extLst>
          </p:cNvPr>
          <p:cNvSpPr/>
          <p:nvPr/>
        </p:nvSpPr>
        <p:spPr>
          <a:xfrm>
            <a:off x="0" y="4715463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5" y="0"/>
                </a:lnTo>
                <a:lnTo>
                  <a:pt x="3489225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570720D-2A5E-EB88-DA10-60ACEBE31D5F}"/>
              </a:ext>
            </a:extLst>
          </p:cNvPr>
          <p:cNvSpPr/>
          <p:nvPr/>
        </p:nvSpPr>
        <p:spPr>
          <a:xfrm>
            <a:off x="4907687" y="9226285"/>
            <a:ext cx="4236313" cy="724024"/>
          </a:xfrm>
          <a:custGeom>
            <a:avLst/>
            <a:gdLst/>
            <a:ahLst/>
            <a:cxnLst/>
            <a:rect l="l" t="t" r="r" b="b"/>
            <a:pathLst>
              <a:path w="4236313" h="724024">
                <a:moveTo>
                  <a:pt x="0" y="0"/>
                </a:moveTo>
                <a:lnTo>
                  <a:pt x="4236313" y="0"/>
                </a:lnTo>
                <a:lnTo>
                  <a:pt x="4236313" y="724024"/>
                </a:lnTo>
                <a:lnTo>
                  <a:pt x="0" y="724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41F0481-B090-128A-F304-30D92587B5E8}"/>
              </a:ext>
            </a:extLst>
          </p:cNvPr>
          <p:cNvSpPr txBox="1"/>
          <p:nvPr/>
        </p:nvSpPr>
        <p:spPr>
          <a:xfrm>
            <a:off x="337576" y="315852"/>
            <a:ext cx="17612848" cy="1121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 dirty="0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VISUALISATION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B4B8E-6AFE-3820-30CE-9C9A993B1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436928"/>
            <a:ext cx="9054211" cy="69682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7D5560-035C-B130-AC05-9D994FBF68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2200" y="1682147"/>
            <a:ext cx="2269230" cy="26268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B06C47-1DD0-5B0F-171F-8C6C36468B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2200" y="4446007"/>
            <a:ext cx="8240659" cy="306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27493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EE92A-CBA7-3478-0992-817EB16BE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3B19C32-2501-0638-42F8-9FF4B708EB3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AC37214-1A1C-1FDB-414E-7E1B9B14CBDB}"/>
              </a:ext>
            </a:extLst>
          </p:cNvPr>
          <p:cNvSpPr/>
          <p:nvPr/>
        </p:nvSpPr>
        <p:spPr>
          <a:xfrm>
            <a:off x="0" y="4715463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5" y="0"/>
                </a:lnTo>
                <a:lnTo>
                  <a:pt x="3489225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07D4FFA-6ED0-A87B-4EB4-0ABF837118BA}"/>
              </a:ext>
            </a:extLst>
          </p:cNvPr>
          <p:cNvSpPr/>
          <p:nvPr/>
        </p:nvSpPr>
        <p:spPr>
          <a:xfrm>
            <a:off x="4907687" y="9226285"/>
            <a:ext cx="4236313" cy="724024"/>
          </a:xfrm>
          <a:custGeom>
            <a:avLst/>
            <a:gdLst/>
            <a:ahLst/>
            <a:cxnLst/>
            <a:rect l="l" t="t" r="r" b="b"/>
            <a:pathLst>
              <a:path w="4236313" h="724024">
                <a:moveTo>
                  <a:pt x="0" y="0"/>
                </a:moveTo>
                <a:lnTo>
                  <a:pt x="4236313" y="0"/>
                </a:lnTo>
                <a:lnTo>
                  <a:pt x="4236313" y="724024"/>
                </a:lnTo>
                <a:lnTo>
                  <a:pt x="0" y="724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00B1220-767D-9232-741F-960F4565EBC4}"/>
              </a:ext>
            </a:extLst>
          </p:cNvPr>
          <p:cNvSpPr/>
          <p:nvPr/>
        </p:nvSpPr>
        <p:spPr>
          <a:xfrm>
            <a:off x="546834" y="3218105"/>
            <a:ext cx="9245389" cy="5743698"/>
          </a:xfrm>
          <a:custGeom>
            <a:avLst/>
            <a:gdLst/>
            <a:ahLst/>
            <a:cxnLst/>
            <a:rect l="l" t="t" r="r" b="b"/>
            <a:pathLst>
              <a:path w="9245389" h="5743698">
                <a:moveTo>
                  <a:pt x="0" y="0"/>
                </a:moveTo>
                <a:lnTo>
                  <a:pt x="9245389" y="0"/>
                </a:lnTo>
                <a:lnTo>
                  <a:pt x="9245389" y="5743697"/>
                </a:lnTo>
                <a:lnTo>
                  <a:pt x="0" y="57436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71FC3BD-C804-38BD-BC6C-7488AF82F5C4}"/>
              </a:ext>
            </a:extLst>
          </p:cNvPr>
          <p:cNvSpPr txBox="1"/>
          <p:nvPr/>
        </p:nvSpPr>
        <p:spPr>
          <a:xfrm>
            <a:off x="337576" y="315852"/>
            <a:ext cx="17612848" cy="2181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TECHNOLOGY STACK &amp; PROJECT WORKFLOW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56E97A7-40EF-335A-E45B-045FEF09AB53}"/>
              </a:ext>
            </a:extLst>
          </p:cNvPr>
          <p:cNvSpPr txBox="1"/>
          <p:nvPr/>
        </p:nvSpPr>
        <p:spPr>
          <a:xfrm>
            <a:off x="546834" y="2526216"/>
            <a:ext cx="5884782" cy="42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Technology Stack: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42973A6-A018-AD53-C2AD-FF28F49B3464}"/>
              </a:ext>
            </a:extLst>
          </p:cNvPr>
          <p:cNvSpPr txBox="1"/>
          <p:nvPr/>
        </p:nvSpPr>
        <p:spPr>
          <a:xfrm>
            <a:off x="10435564" y="5667371"/>
            <a:ext cx="7514861" cy="32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Project Workflow (12 Phases): Dataset Loading → EDA → Preprocessing (Normalize + Reshape) → Data Augmentation Setup → CNN Architecture Design → Callback Configuration → Model Training → Training Visualization → Model Evaluation → Error Analysis → Predictive System → Model Serialization</a:t>
            </a:r>
          </a:p>
        </p:txBody>
      </p:sp>
    </p:spTree>
    <p:extLst>
      <p:ext uri="{BB962C8B-B14F-4D97-AF65-F5344CB8AC3E}">
        <p14:creationId xmlns:p14="http://schemas.microsoft.com/office/powerpoint/2010/main" val="247575358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44" y="3640938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5" y="0"/>
                </a:lnTo>
                <a:lnTo>
                  <a:pt x="3489225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2270177" y="4903734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49442" y="1774653"/>
            <a:ext cx="5246370" cy="4381229"/>
            <a:chOff x="0" y="0"/>
            <a:chExt cx="812800" cy="6787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678767"/>
            </a:xfrm>
            <a:custGeom>
              <a:avLst/>
              <a:gdLst/>
              <a:ahLst/>
              <a:cxnLst/>
              <a:rect l="l" t="t" r="r" b="b"/>
              <a:pathLst>
                <a:path w="812800" h="678767">
                  <a:moveTo>
                    <a:pt x="0" y="0"/>
                  </a:moveTo>
                  <a:lnTo>
                    <a:pt x="812800" y="0"/>
                  </a:lnTo>
                  <a:lnTo>
                    <a:pt x="812800" y="678767"/>
                  </a:lnTo>
                  <a:lnTo>
                    <a:pt x="0" y="678767"/>
                  </a:lnTo>
                  <a:close/>
                </a:path>
              </a:pathLst>
            </a:custGeom>
            <a:blipFill>
              <a:blip r:embed="rId5">
                <a:alphaModFix amt="13000"/>
              </a:blip>
              <a:stretch>
                <a:fillRect l="-24562" r="-2456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405965" y="1572433"/>
            <a:ext cx="17476071" cy="8708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7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Current Limitations:</a:t>
            </a:r>
          </a:p>
          <a:p>
            <a:pPr marL="582930" lvl="1" indent="-291465" algn="l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MNIST is a clean, pre-centered, perfectly cropped benchmark — real-world digits appear on lined paper, in poor lighting, at skewed angles, with noisy backgrounds, and overlapping textures</a:t>
            </a:r>
          </a:p>
          <a:p>
            <a:pPr marL="582930" lvl="1" indent="-291465" algn="l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Single digit per image — the system cannot read sequences (phone numbers, ZIP codes, cheque amounts) — would need segmentation + sequence modeling (LSTM/CTC)</a:t>
            </a:r>
          </a:p>
          <a:p>
            <a:pPr marL="582930" lvl="1" indent="-291465" algn="l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Grayscale only — custom color images are converted to grayscale, which may lose subtle contrast information in borderline cases</a:t>
            </a:r>
          </a:p>
          <a:p>
            <a:pPr marL="582930" lvl="1" indent="-291465" algn="l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No automatic preprocessing for custom images — assumes digit is reasonably centered and not heavily skewed; no auto-detection, cropping, or deskewing</a:t>
            </a:r>
          </a:p>
          <a:p>
            <a:pPr marL="582930" lvl="1" indent="-291465" algn="l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Static model — not updated incrementally; periodic retraining needed if deployment handwriting styles differ from MNIST distribution</a:t>
            </a:r>
          </a:p>
          <a:p>
            <a:pPr algn="l">
              <a:lnSpc>
                <a:spcPts val="2916"/>
              </a:lnSpc>
            </a:pPr>
            <a:r>
              <a:rPr lang="en-US" sz="27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Future Scope:</a:t>
            </a:r>
          </a:p>
          <a:p>
            <a:pPr marL="582930" lvl="1" indent="-291465" algn="l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Web App Deployment — Streamlit/Flask app with a canvas widget where users draw digits directly in the browser and receive real-time predictions</a:t>
            </a:r>
          </a:p>
          <a:p>
            <a:pPr marL="582930" lvl="1" indent="-291465" algn="l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Multi-Digit Sequence Recognition — Integrate digit detection + segmentation pipeline or adopt an end-to-end sequence architecture (CTC) for reading full numbers</a:t>
            </a:r>
          </a:p>
          <a:p>
            <a:pPr marL="582930" lvl="1" indent="-291465" algn="l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Real-World Dataset Transfer — Fine-tune on SVHN (Street View House Numbers) or custom organizational data (bank forms, survey sheets) for beyond-MNIST robustness</a:t>
            </a:r>
          </a:p>
          <a:p>
            <a:pPr marL="582930" lvl="1" indent="-291465" algn="l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Smarter Custom Image Preprocessing — Add contour-based digit detection, perspective correction, background removal, and auto-centering for real-world inputs</a:t>
            </a:r>
          </a:p>
          <a:p>
            <a:pPr marL="582930" lvl="1" indent="-291465" algn="l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Deeper Architectures — ResNet, EfficientNet, MobileNet via transfer learning for improved accuracy on noisy or distorted inputs</a:t>
            </a:r>
          </a:p>
          <a:p>
            <a:pPr marL="582930" lvl="1" indent="-291465" algn="l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ONNX / TFLite Conversion — Deploy on mobile devices and edge hardware for offline digit recognition on smartphones and embedded systems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5965" y="524622"/>
            <a:ext cx="16533472" cy="110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LIMITATIONS &amp; FUTURE SCOPE</a:t>
            </a: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89048" y="4733186"/>
            <a:ext cx="3489225" cy="6640393"/>
          </a:xfrm>
          <a:custGeom>
            <a:avLst/>
            <a:gdLst/>
            <a:ahLst/>
            <a:cxnLst/>
            <a:rect l="l" t="t" r="r" b="b"/>
            <a:pathLst>
              <a:path w="3489225" h="6640393">
                <a:moveTo>
                  <a:pt x="0" y="0"/>
                </a:moveTo>
                <a:lnTo>
                  <a:pt x="3489224" y="0"/>
                </a:lnTo>
                <a:lnTo>
                  <a:pt x="3489224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59542" y="1338310"/>
            <a:ext cx="17818338" cy="8741657"/>
            <a:chOff x="0" y="0"/>
            <a:chExt cx="1563531" cy="7670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63531" cy="767067"/>
            </a:xfrm>
            <a:custGeom>
              <a:avLst/>
              <a:gdLst/>
              <a:ahLst/>
              <a:cxnLst/>
              <a:rect l="l" t="t" r="r" b="b"/>
              <a:pathLst>
                <a:path w="1563531" h="767067">
                  <a:moveTo>
                    <a:pt x="8486" y="0"/>
                  </a:moveTo>
                  <a:lnTo>
                    <a:pt x="1555045" y="0"/>
                  </a:lnTo>
                  <a:cubicBezTo>
                    <a:pt x="1559732" y="0"/>
                    <a:pt x="1563531" y="3799"/>
                    <a:pt x="1563531" y="8486"/>
                  </a:cubicBezTo>
                  <a:lnTo>
                    <a:pt x="1563531" y="758581"/>
                  </a:lnTo>
                  <a:cubicBezTo>
                    <a:pt x="1563531" y="763267"/>
                    <a:pt x="1559732" y="767067"/>
                    <a:pt x="1555045" y="767067"/>
                  </a:cubicBezTo>
                  <a:lnTo>
                    <a:pt x="8486" y="767067"/>
                  </a:lnTo>
                  <a:cubicBezTo>
                    <a:pt x="3799" y="767067"/>
                    <a:pt x="0" y="763267"/>
                    <a:pt x="0" y="758581"/>
                  </a:cubicBezTo>
                  <a:lnTo>
                    <a:pt x="0" y="8486"/>
                  </a:lnTo>
                  <a:cubicBezTo>
                    <a:pt x="0" y="3799"/>
                    <a:pt x="3799" y="0"/>
                    <a:pt x="8486" y="0"/>
                  </a:cubicBezTo>
                  <a:close/>
                </a:path>
              </a:pathLst>
            </a:custGeom>
            <a:ln w="38100" cap="rnd">
              <a:solidFill>
                <a:srgbClr val="020BB5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63531" cy="805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99666" y="1590793"/>
            <a:ext cx="17278607" cy="834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A008E"/>
                </a:solidFill>
                <a:latin typeface="Questrial"/>
                <a:ea typeface="Questrial"/>
                <a:cs typeface="Questrial"/>
                <a:sym typeface="Questrial"/>
              </a:rPr>
              <a:t>What Was Achieved: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A008E"/>
                </a:solidFill>
                <a:latin typeface="Questrial"/>
                <a:ea typeface="Questrial"/>
                <a:cs typeface="Questrial"/>
                <a:sym typeface="Questrial"/>
              </a:rPr>
              <a:t>Designed, trained, and evaluated a full CNN pipeline on 70,000 handwritten digit images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A008E"/>
                </a:solidFill>
                <a:latin typeface="Questrial"/>
                <a:ea typeface="Questrial"/>
                <a:cs typeface="Questrial"/>
                <a:sym typeface="Questrial"/>
              </a:rPr>
              <a:t>Achieved 99.52% test accuracy — only 48 errors out of 10,000 test images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A008E"/>
                </a:solidFill>
                <a:latin typeface="Questrial"/>
                <a:ea typeface="Questrial"/>
                <a:cs typeface="Questrial"/>
                <a:sym typeface="Questrial"/>
              </a:rPr>
              <a:t>Matched state-of-the-art performance on the MNIST benchmark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A008E"/>
                </a:solidFill>
                <a:latin typeface="Questrial"/>
                <a:ea typeface="Questrial"/>
                <a:cs typeface="Questrial"/>
                <a:sym typeface="Questrial"/>
              </a:rPr>
              <a:t>Successfully applied real-time Data Augmentation + Batch Normalization + Dropout to prevent overfitting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A008E"/>
                </a:solidFill>
                <a:latin typeface="Questrial"/>
                <a:ea typeface="Questrial"/>
                <a:cs typeface="Questrial"/>
                <a:sym typeface="Questrial"/>
              </a:rPr>
              <a:t>Performed deep error analysis including 10×10 confusion matrix and per-digit error rates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A008E"/>
                </a:solidFill>
                <a:latin typeface="Questrial"/>
                <a:ea typeface="Questrial"/>
                <a:cs typeface="Questrial"/>
                <a:sym typeface="Questrial"/>
              </a:rPr>
              <a:t>Built a dual-mode predictive system handling both MNIST test images and real-world custom uploads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A008E"/>
                </a:solidFill>
                <a:latin typeface="Questrial"/>
                <a:ea typeface="Questrial"/>
                <a:cs typeface="Questrial"/>
                <a:sym typeface="Questrial"/>
              </a:rPr>
              <a:t>Serialized the model as mnist_cnn_model.h5 for immediate deployment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A008E"/>
                </a:solidFill>
                <a:latin typeface="Questrial"/>
                <a:ea typeface="Questrial"/>
                <a:cs typeface="Questrial"/>
                <a:sym typeface="Questrial"/>
              </a:rPr>
              <a:t>Key Learnings: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A008E"/>
                </a:solidFill>
                <a:latin typeface="Questrial"/>
                <a:ea typeface="Questrial"/>
                <a:cs typeface="Questrial"/>
                <a:sym typeface="Questrial"/>
              </a:rPr>
              <a:t>Without Data Augmentation, the model overfit quickly — adding augmentation and dropout made validation accuracy significantly more stable. Real hands-on proof of why generalization techniques matter.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A008E"/>
                </a:solidFill>
                <a:latin typeface="Questrial"/>
                <a:ea typeface="Questrial"/>
                <a:cs typeface="Questrial"/>
                <a:sym typeface="Questrial"/>
              </a:rPr>
              <a:t>Learned how CNNs automatically build hierarchical visual representations: edges → curves → digit-specific shapes — without any manual feature engineering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A008E"/>
                </a:solidFill>
                <a:latin typeface="Questrial"/>
                <a:ea typeface="Questrial"/>
                <a:cs typeface="Questrial"/>
                <a:sym typeface="Questrial"/>
              </a:rPr>
              <a:t>Gained experience in multi-class evaluation beyond simple accuracy — per-class precision, recall, F1, and confusion matrix analysis</a:t>
            </a:r>
          </a:p>
          <a:p>
            <a:pPr marL="657424" lvl="1" indent="-328712" algn="l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A008E"/>
                </a:solidFill>
                <a:latin typeface="Questrial"/>
                <a:ea typeface="Questrial"/>
                <a:cs typeface="Questrial"/>
                <a:sym typeface="Questrial"/>
              </a:rPr>
              <a:t>Understood the full pipeline from raw benchmark data to a deployment-ready custom image prediction system using OpenCV</a:t>
            </a:r>
          </a:p>
        </p:txBody>
      </p:sp>
      <p:sp>
        <p:nvSpPr>
          <p:cNvPr id="8" name="Freeform 8"/>
          <p:cNvSpPr/>
          <p:nvPr/>
        </p:nvSpPr>
        <p:spPr>
          <a:xfrm>
            <a:off x="13403688" y="376970"/>
            <a:ext cx="4236313" cy="724024"/>
          </a:xfrm>
          <a:custGeom>
            <a:avLst/>
            <a:gdLst/>
            <a:ahLst/>
            <a:cxnLst/>
            <a:rect l="l" t="t" r="r" b="b"/>
            <a:pathLst>
              <a:path w="4236313" h="724024">
                <a:moveTo>
                  <a:pt x="0" y="0"/>
                </a:moveTo>
                <a:lnTo>
                  <a:pt x="4236312" y="0"/>
                </a:lnTo>
                <a:lnTo>
                  <a:pt x="4236312" y="724024"/>
                </a:lnTo>
                <a:lnTo>
                  <a:pt x="0" y="724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59542" y="234904"/>
            <a:ext cx="10277493" cy="110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63995" y="1801919"/>
            <a:ext cx="5610720" cy="5858532"/>
          </a:xfrm>
          <a:custGeom>
            <a:avLst/>
            <a:gdLst/>
            <a:ahLst/>
            <a:cxnLst/>
            <a:rect l="l" t="t" r="r" b="b"/>
            <a:pathLst>
              <a:path w="5610720" h="5858532">
                <a:moveTo>
                  <a:pt x="0" y="0"/>
                </a:moveTo>
                <a:lnTo>
                  <a:pt x="5610721" y="0"/>
                </a:lnTo>
                <a:lnTo>
                  <a:pt x="5610721" y="5858532"/>
                </a:lnTo>
                <a:lnTo>
                  <a:pt x="0" y="5858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26995" y="7044639"/>
            <a:ext cx="2233712" cy="4251009"/>
          </a:xfrm>
          <a:custGeom>
            <a:avLst/>
            <a:gdLst/>
            <a:ahLst/>
            <a:cxnLst/>
            <a:rect l="l" t="t" r="r" b="b"/>
            <a:pathLst>
              <a:path w="2233712" h="4251009">
                <a:moveTo>
                  <a:pt x="0" y="0"/>
                </a:moveTo>
                <a:lnTo>
                  <a:pt x="2233712" y="0"/>
                </a:lnTo>
                <a:lnTo>
                  <a:pt x="2233712" y="4251010"/>
                </a:lnTo>
                <a:lnTo>
                  <a:pt x="0" y="4251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488907" y="3905718"/>
            <a:ext cx="10286279" cy="1576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27"/>
              </a:lnSpc>
            </a:pPr>
            <a:r>
              <a:rPr lang="en-US" sz="11228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88907" y="5520266"/>
            <a:ext cx="9496390" cy="64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4499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Submitted by: Gouri Rewanwar</a:t>
            </a:r>
          </a:p>
        </p:txBody>
      </p:sp>
      <p:sp>
        <p:nvSpPr>
          <p:cNvPr id="7" name="Freeform 7"/>
          <p:cNvSpPr/>
          <p:nvPr/>
        </p:nvSpPr>
        <p:spPr>
          <a:xfrm rot="-5400000">
            <a:off x="11056223" y="-1440442"/>
            <a:ext cx="2233712" cy="4251009"/>
          </a:xfrm>
          <a:custGeom>
            <a:avLst/>
            <a:gdLst/>
            <a:ahLst/>
            <a:cxnLst/>
            <a:rect l="l" t="t" r="r" b="b"/>
            <a:pathLst>
              <a:path w="2233712" h="4251009">
                <a:moveTo>
                  <a:pt x="0" y="0"/>
                </a:moveTo>
                <a:lnTo>
                  <a:pt x="2233712" y="0"/>
                </a:lnTo>
                <a:lnTo>
                  <a:pt x="2233712" y="4251009"/>
                </a:lnTo>
                <a:lnTo>
                  <a:pt x="0" y="4251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2468</Words>
  <Application>Microsoft Office PowerPoint</Application>
  <PresentationFormat>Custom</PresentationFormat>
  <Paragraphs>154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Questrial</vt:lpstr>
      <vt:lpstr>Arial</vt:lpstr>
      <vt:lpstr>Calibri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</dc:title>
  <cp:lastModifiedBy>Gouri Rewanwar</cp:lastModifiedBy>
  <cp:revision>2</cp:revision>
  <dcterms:created xsi:type="dcterms:W3CDTF">2006-08-16T00:00:00Z</dcterms:created>
  <dcterms:modified xsi:type="dcterms:W3CDTF">2026-04-30T16:31:06Z</dcterms:modified>
  <dc:identifier>DAHIVvlBjuk</dc:identifier>
</cp:coreProperties>
</file>